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A10B05-CD0B-4457-AA00-C8037DF8A59E}">
  <a:tblStyle styleId="{95A10B05-CD0B-4457-AA00-C8037DF8A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c58d938e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c58d938e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c58d938e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c58d938e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c58d938e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c58d938e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c58d938e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c58d938e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c58d938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c58d938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58d938e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c58d938e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c58d938e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c58d938e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58d938e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c58d938e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58d938e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c58d938e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c58d938e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c58d938e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c58d938e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c58d938e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c58d938e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c58d938e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c58d938ee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c58d938ee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58d938ee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c58d938ee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c58d938ee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c58d938e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c58d938ee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c58d938e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c58d938e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c58d938e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58d938ee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c58d938ee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c58d938ee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c58d938ee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58d938ee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c58d938ee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c58d938ee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c58d938ee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c58d938ee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c58d938ee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c58d938ee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c58d938ee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c58d938ee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c58d938ee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c58d938ee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c58d938e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c58d938e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c58d938e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c58d938e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c58d938e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c58d938ee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c58d938ee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/>
              <a:t>Pattern Recognition</a:t>
            </a:r>
            <a:endParaRPr sz="4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608700"/>
            <a:ext cx="8276400" cy="4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60"/>
              <a:t>Brac University</a:t>
            </a:r>
            <a:endParaRPr sz="296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1274" y="4670711"/>
            <a:ext cx="297975" cy="2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Pattern Recognition 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 recognition is a branch of machine learning and artificial intelligence that focuses on the automatic detection, classification, and interpretation of patterns in data such as images, signals, text, or numbers.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short: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process of automatically identifying and classifying patterns in data based on extracted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pattern recognition works 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data – image, sound, text, sensor data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Feature extraction – meaningful characteristics are identified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Pattern classification – the data is assigned to a class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Decision – final recognition result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Real-life examples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5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41"/>
              <a:t>📷 Face recognition in phones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41"/>
              <a:t>🗣️ Speech recognition (voice assistants)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41"/>
              <a:t>✍️ Handwritten digit recognition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241"/>
              <a:t>📧 Spam email detection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241"/>
              <a:t>🧬 Medical diagnosis from scans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241"/>
              <a:t>🎥 Recommendation Systems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241"/>
              <a:t>🚗 Self-Driving Cars 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241"/>
              <a:t>🛒 Fraud Detection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241"/>
              <a:t>🧠 Fingerprint &amp; Biometric Systems</a:t>
            </a:r>
            <a:endParaRPr sz="124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rPr lang="en" sz="1241"/>
              <a:t>📊 Stock Market Prediction</a:t>
            </a:r>
            <a:endParaRPr sz="95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🤖 In AI &amp; Machine Learning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</a:t>
            </a:r>
            <a:r>
              <a:rPr lang="en" sz="1600">
                <a:solidFill>
                  <a:schemeClr val="dk1"/>
                </a:solidFill>
              </a:rPr>
              <a:t>attern recognition helps systems: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Learn from </a:t>
            </a:r>
            <a:r>
              <a:rPr b="1" lang="en" sz="1600">
                <a:solidFill>
                  <a:schemeClr val="dk1"/>
                </a:solidFill>
              </a:rPr>
              <a:t>examples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Generalize to </a:t>
            </a:r>
            <a:r>
              <a:rPr b="1" lang="en" sz="1600">
                <a:solidFill>
                  <a:schemeClr val="dk1"/>
                </a:solidFill>
              </a:rPr>
              <a:t>new, unseen data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Make </a:t>
            </a:r>
            <a:r>
              <a:rPr b="1" lang="en" sz="1600">
                <a:solidFill>
                  <a:schemeClr val="dk1"/>
                </a:solidFill>
              </a:rPr>
              <a:t>accurate predictions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Modern pattern recognition heavily uses: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Neural networks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Deep learning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Statistical models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Pattern Recognition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1️⃣ Statistical </a:t>
            </a:r>
            <a:r>
              <a:rPr lang="en"/>
              <a:t>(including </a:t>
            </a:r>
            <a:r>
              <a:rPr lang="en"/>
              <a:t>Probabilistic</a:t>
            </a:r>
            <a:r>
              <a:rPr lang="en"/>
              <a:t>)</a:t>
            </a:r>
            <a:r>
              <a:rPr lang="en"/>
              <a:t> Pattern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2️⃣ Structural (including Syntactic) Pattern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3️⃣ Neural Pattern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4️⃣ Template Matching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5️⃣ Fuzzy Pattern Recognition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6️⃣ Hybrid Approaches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260">
                <a:solidFill>
                  <a:schemeClr val="dk1"/>
                </a:solidFill>
              </a:rPr>
              <a:t>Core tasks:</a:t>
            </a:r>
            <a:endParaRPr sz="6260">
              <a:solidFill>
                <a:schemeClr val="dk1"/>
              </a:solidFill>
            </a:endParaRPr>
          </a:p>
          <a:p>
            <a:pPr indent="-31686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8818"/>
              <a:buChar char="●"/>
            </a:pPr>
            <a:r>
              <a:rPr lang="en" sz="6260">
                <a:solidFill>
                  <a:schemeClr val="dk1"/>
                </a:solidFill>
              </a:rPr>
              <a:t>Classification (discrete outputs)</a:t>
            </a:r>
            <a:endParaRPr sz="6260">
              <a:solidFill>
                <a:schemeClr val="dk1"/>
              </a:solidFill>
            </a:endParaRPr>
          </a:p>
          <a:p>
            <a:pPr indent="-31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818"/>
              <a:buChar char="●"/>
            </a:pPr>
            <a:r>
              <a:rPr lang="en" sz="6260">
                <a:solidFill>
                  <a:schemeClr val="dk1"/>
                </a:solidFill>
              </a:rPr>
              <a:t>Regression (continuous outputs)</a:t>
            </a:r>
            <a:endParaRPr sz="6260">
              <a:solidFill>
                <a:schemeClr val="dk1"/>
              </a:solidFill>
            </a:endParaRPr>
          </a:p>
          <a:p>
            <a:pPr indent="-31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818"/>
              <a:buChar char="●"/>
            </a:pPr>
            <a:r>
              <a:rPr lang="en" sz="6260">
                <a:solidFill>
                  <a:schemeClr val="dk1"/>
                </a:solidFill>
              </a:rPr>
              <a:t>Density estimation &amp; clustering</a:t>
            </a:r>
            <a:endParaRPr sz="62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260">
                <a:solidFill>
                  <a:schemeClr val="dk1"/>
                </a:solidFill>
              </a:rPr>
              <a:t>Learning paradigms:</a:t>
            </a:r>
            <a:endParaRPr sz="6260">
              <a:solidFill>
                <a:schemeClr val="dk1"/>
              </a:solidFill>
            </a:endParaRPr>
          </a:p>
          <a:p>
            <a:pPr indent="-31686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8818"/>
              <a:buChar char="●"/>
            </a:pPr>
            <a:r>
              <a:rPr lang="en" sz="6260">
                <a:solidFill>
                  <a:schemeClr val="dk1"/>
                </a:solidFill>
              </a:rPr>
              <a:t>Su</a:t>
            </a:r>
            <a:r>
              <a:rPr lang="en" sz="6260">
                <a:solidFill>
                  <a:schemeClr val="dk1"/>
                </a:solidFill>
              </a:rPr>
              <a:t>p</a:t>
            </a:r>
            <a:r>
              <a:rPr lang="en" sz="6260">
                <a:solidFill>
                  <a:schemeClr val="dk1"/>
                </a:solidFill>
              </a:rPr>
              <a:t>ervised</a:t>
            </a:r>
            <a:endParaRPr sz="6260">
              <a:solidFill>
                <a:schemeClr val="dk1"/>
              </a:solidFill>
            </a:endParaRPr>
          </a:p>
          <a:p>
            <a:pPr indent="-31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818"/>
              <a:buChar char="●"/>
            </a:pPr>
            <a:r>
              <a:rPr lang="en" sz="6260">
                <a:solidFill>
                  <a:schemeClr val="dk1"/>
                </a:solidFill>
              </a:rPr>
              <a:t>Unsupervised</a:t>
            </a:r>
            <a:endParaRPr sz="6260">
              <a:solidFill>
                <a:schemeClr val="dk1"/>
              </a:solidFill>
            </a:endParaRPr>
          </a:p>
          <a:p>
            <a:pPr indent="-31686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8818"/>
              <a:buChar char="●"/>
            </a:pPr>
            <a:r>
              <a:rPr lang="en" sz="6260">
                <a:solidFill>
                  <a:schemeClr val="dk1"/>
                </a:solidFill>
              </a:rPr>
              <a:t>Reinforcement learning</a:t>
            </a:r>
            <a:endParaRPr sz="62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260">
                <a:solidFill>
                  <a:schemeClr val="dk1"/>
                </a:solidFill>
              </a:rPr>
              <a:t>Why ML matters: automation, generalization, scalability</a:t>
            </a:r>
            <a:endParaRPr sz="626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(discrete outputs)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Classification (discrete outputs)</a:t>
            </a:r>
            <a:r>
              <a:rPr lang="en" sz="1300">
                <a:solidFill>
                  <a:schemeClr val="dk1"/>
                </a:solidFill>
              </a:rPr>
              <a:t> is a type of pattern recognition task where the system assigns an input to </a:t>
            </a:r>
            <a:r>
              <a:rPr b="1" lang="en" sz="1300">
                <a:solidFill>
                  <a:schemeClr val="dk1"/>
                </a:solidFill>
              </a:rPr>
              <a:t>one of a fixed set of predefined classes</a:t>
            </a:r>
            <a:r>
              <a:rPr lang="en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🧠 Key idea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Outputs are </a:t>
            </a:r>
            <a:r>
              <a:rPr b="1" lang="en" sz="1100">
                <a:solidFill>
                  <a:schemeClr val="dk1"/>
                </a:solidFill>
              </a:rPr>
              <a:t>discrete</a:t>
            </a:r>
            <a:r>
              <a:rPr lang="en" sz="1100">
                <a:solidFill>
                  <a:schemeClr val="dk1"/>
                </a:solidFill>
              </a:rPr>
              <a:t> (not continuous)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input belongs to </a:t>
            </a:r>
            <a:r>
              <a:rPr b="1" lang="en" sz="1100">
                <a:solidFill>
                  <a:schemeClr val="dk1"/>
                </a:solidFill>
              </a:rPr>
              <a:t>one class</a:t>
            </a:r>
            <a:r>
              <a:rPr lang="en" sz="1100">
                <a:solidFill>
                  <a:schemeClr val="dk1"/>
                </a:solidFill>
              </a:rPr>
              <a:t> (or sometimes multiple, in multi-label cases)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(discrete outputs)  [cont…]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📊 Examples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05" name="Google Shape;105;p21"/>
          <p:cNvGraphicFramePr/>
          <p:nvPr/>
        </p:nvGraphicFramePr>
        <p:xfrm>
          <a:off x="810925" y="170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{95A10B05-CD0B-4457-AA00-C8037DF8A59E}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Input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Output (Class)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Email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Spam/ Not Spam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Cat/ Dog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Handwritten Digits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0-9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Medical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Disease A/ Disease B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Student Record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Pass/ Fail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(discrete outputs)  [cont…]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🧪</a:t>
            </a:r>
            <a:r>
              <a:rPr b="1" lang="en" sz="1500">
                <a:solidFill>
                  <a:schemeClr val="dk1"/>
                </a:solidFill>
              </a:rPr>
              <a:t> Types of classification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Binary classification</a:t>
            </a:r>
            <a:r>
              <a:rPr lang="en" sz="1300">
                <a:solidFill>
                  <a:schemeClr val="dk1"/>
                </a:solidFill>
              </a:rPr>
              <a:t> → 2 classes (Yes / No)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Multi-class classification</a:t>
            </a:r>
            <a:r>
              <a:rPr lang="en" sz="1300">
                <a:solidFill>
                  <a:schemeClr val="dk1"/>
                </a:solidFill>
              </a:rPr>
              <a:t> → more than 2 classes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Multi-label classification</a:t>
            </a:r>
            <a:r>
              <a:rPr lang="en" sz="1300">
                <a:solidFill>
                  <a:schemeClr val="dk1"/>
                </a:solidFill>
              </a:rPr>
              <a:t> → multiple classes at once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(discrete outputs)  [cont…]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🤖 Common classification algorithms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k-Nearest Neighbors (k-NN)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Decision Trees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Naive Bayes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 Vector Machines (SVM)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Neural Networks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Generalized Linear Model (GLM)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Logistic regression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(continuous outputs)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Regression is the process of learning a mapping from input variables to continuous numerical values.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🧠 Key idea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Outputs are </a:t>
            </a:r>
            <a:r>
              <a:rPr b="1" lang="en" sz="1300">
                <a:solidFill>
                  <a:schemeClr val="dk1"/>
                </a:solidFill>
              </a:rPr>
              <a:t>continuous</a:t>
            </a:r>
            <a:r>
              <a:rPr lang="en" sz="1300">
                <a:solidFill>
                  <a:schemeClr val="dk1"/>
                </a:solidFill>
              </a:rPr>
              <a:t>, not categories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Small changes in input can cause </a:t>
            </a:r>
            <a:r>
              <a:rPr b="1" lang="en" sz="1300">
                <a:solidFill>
                  <a:schemeClr val="dk1"/>
                </a:solidFill>
              </a:rPr>
              <a:t>small changes in output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(continuous outputs)   [cont…]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📊 Examples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aphicFrame>
        <p:nvGraphicFramePr>
          <p:cNvPr id="130" name="Google Shape;130;p25"/>
          <p:cNvGraphicFramePr/>
          <p:nvPr/>
        </p:nvGraphicFramePr>
        <p:xfrm>
          <a:off x="810925" y="170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{95A10B05-CD0B-4457-AA00-C8037DF8A59E}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Input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Output (Class)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House features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House price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Temperature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Student study hours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Exam score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Sensor readings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Voltage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Medical data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Blood pressure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(continuous outputs)   [cont…]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🤖 Common regression algorithms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Linear Regression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Polynomial Regression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Ridge &amp; Lasso Regression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Support Vector Regression (SVR)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Neural Networks</a:t>
            </a:r>
            <a:br>
              <a:rPr lang="en" sz="1400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Contrast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🔁 Regression vs Classification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Regression</a:t>
            </a:r>
            <a:r>
              <a:rPr lang="en" sz="1300">
                <a:solidFill>
                  <a:schemeClr val="dk1"/>
                </a:solidFill>
              </a:rPr>
              <a:t> → continuous outputs (price, weight, temperature)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>
                <a:solidFill>
                  <a:schemeClr val="dk1"/>
                </a:solidFill>
              </a:rPr>
              <a:t>Classification</a:t>
            </a:r>
            <a:r>
              <a:rPr lang="en" sz="1300">
                <a:solidFill>
                  <a:schemeClr val="dk1"/>
                </a:solidFill>
              </a:rPr>
              <a:t> → discrete outputs (spam/not spam, cat/dog)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estimation &amp; clustering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Density estimation and clustering are two closely related tasks in pattern recognition that deal with understanding the structure of data, often without labeled outputs.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In short: The process of estimating the probability distribution of data points in a feature space.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🧠 Key idea</a:t>
            </a:r>
            <a:endParaRPr b="1" sz="15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Models how likely data points are to occur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Helps identify </a:t>
            </a:r>
            <a:r>
              <a:rPr b="1" lang="en" sz="1300">
                <a:solidFill>
                  <a:schemeClr val="dk1"/>
                </a:solidFill>
              </a:rPr>
              <a:t>regions of high and low data concentration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Density estimation</a:t>
            </a:r>
            <a:endParaRPr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3186">
                <a:solidFill>
                  <a:schemeClr val="dk1"/>
                </a:solidFill>
              </a:rPr>
              <a:t>📊 Examples</a:t>
            </a:r>
            <a:endParaRPr b="1" sz="3186">
              <a:solidFill>
                <a:schemeClr val="dk1"/>
              </a:solidFill>
            </a:endParaRPr>
          </a:p>
          <a:p>
            <a:pPr indent="-31865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86">
                <a:solidFill>
                  <a:schemeClr val="dk1"/>
                </a:solidFill>
              </a:rPr>
              <a:t>Estimating the distribution of heights in a population</a:t>
            </a:r>
            <a:br>
              <a:rPr lang="en" sz="2986">
                <a:solidFill>
                  <a:schemeClr val="dk1"/>
                </a:solidFill>
              </a:rPr>
            </a:br>
            <a:endParaRPr sz="2986">
              <a:solidFill>
                <a:schemeClr val="dk1"/>
              </a:solidFill>
            </a:endParaRPr>
          </a:p>
          <a:p>
            <a:pPr indent="-31865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86">
                <a:solidFill>
                  <a:schemeClr val="dk1"/>
                </a:solidFill>
              </a:rPr>
              <a:t>Modeling pixel intensity distribution in an image</a:t>
            </a:r>
            <a:br>
              <a:rPr lang="en" sz="2986">
                <a:solidFill>
                  <a:schemeClr val="dk1"/>
                </a:solidFill>
              </a:rPr>
            </a:br>
            <a:endParaRPr sz="2986">
              <a:solidFill>
                <a:schemeClr val="dk1"/>
              </a:solidFill>
            </a:endParaRPr>
          </a:p>
          <a:p>
            <a:pPr indent="-31865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86">
                <a:solidFill>
                  <a:schemeClr val="dk1"/>
                </a:solidFill>
              </a:rPr>
              <a:t>Detecting anomalies (low-density regions)</a:t>
            </a:r>
            <a:endParaRPr sz="338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4530"/>
              <a:buFont typeface="Arial"/>
              <a:buNone/>
            </a:pPr>
            <a:r>
              <a:rPr b="1" lang="en" sz="3186">
                <a:solidFill>
                  <a:schemeClr val="dk1"/>
                </a:solidFill>
              </a:rPr>
              <a:t>🔧 Types of density estimation</a:t>
            </a:r>
            <a:endParaRPr b="1" sz="3186">
              <a:solidFill>
                <a:schemeClr val="dk1"/>
              </a:solidFill>
            </a:endParaRPr>
          </a:p>
          <a:p>
            <a:pPr indent="-31865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986">
                <a:solidFill>
                  <a:schemeClr val="dk1"/>
                </a:solidFill>
              </a:rPr>
              <a:t>Parametric</a:t>
            </a:r>
            <a:r>
              <a:rPr lang="en" sz="2986">
                <a:solidFill>
                  <a:schemeClr val="dk1"/>
                </a:solidFill>
              </a:rPr>
              <a:t> → assumes a form (e.g., Gaussian)</a:t>
            </a:r>
            <a:br>
              <a:rPr lang="en" sz="2986">
                <a:solidFill>
                  <a:schemeClr val="dk1"/>
                </a:solidFill>
              </a:rPr>
            </a:br>
            <a:endParaRPr sz="2986">
              <a:solidFill>
                <a:schemeClr val="dk1"/>
              </a:solidFill>
            </a:endParaRPr>
          </a:p>
          <a:p>
            <a:pPr indent="-31865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986">
                <a:solidFill>
                  <a:schemeClr val="dk1"/>
                </a:solidFill>
              </a:rPr>
              <a:t>Non-parametric</a:t>
            </a:r>
            <a:r>
              <a:rPr lang="en" sz="2986">
                <a:solidFill>
                  <a:schemeClr val="dk1"/>
                </a:solidFill>
              </a:rPr>
              <a:t> → no fixed form (e.g., Kernel Density Estimation)</a:t>
            </a:r>
            <a:endParaRPr sz="298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5" name="Google Shape;15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9100" y="1561412"/>
            <a:ext cx="3320125" cy="18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Clustering</a:t>
            </a:r>
            <a:r>
              <a:rPr lang="en" sz="1100">
                <a:solidFill>
                  <a:schemeClr val="dk1"/>
                </a:solidFill>
              </a:rPr>
              <a:t> is the process of </a:t>
            </a:r>
            <a:r>
              <a:rPr b="1" lang="en" sz="1100">
                <a:solidFill>
                  <a:schemeClr val="dk1"/>
                </a:solidFill>
              </a:rPr>
              <a:t>grouping similar data points</a:t>
            </a:r>
            <a:r>
              <a:rPr lang="en" sz="1100">
                <a:solidFill>
                  <a:schemeClr val="dk1"/>
                </a:solidFill>
              </a:rPr>
              <a:t> into clusters such that: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points in the </a:t>
            </a:r>
            <a:r>
              <a:rPr b="1" lang="en" sz="1100">
                <a:solidFill>
                  <a:schemeClr val="dk1"/>
                </a:solidFill>
              </a:rPr>
              <a:t>same cluster are similar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points in </a:t>
            </a:r>
            <a:r>
              <a:rPr b="1" lang="en" sz="1100">
                <a:solidFill>
                  <a:schemeClr val="dk1"/>
                </a:solidFill>
              </a:rPr>
              <a:t>different clusters are dissimilar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🧠 Key idea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predefined labels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Groups are discovered automatically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43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62" name="Google Shape;16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724" y="2390025"/>
            <a:ext cx="4375951" cy="168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 [contd…]</a:t>
            </a:r>
            <a:endParaRPr/>
          </a:p>
        </p:txBody>
      </p:sp>
      <p:sp>
        <p:nvSpPr>
          <p:cNvPr id="168" name="Google Shape;16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Co</a:t>
            </a:r>
            <a:r>
              <a:rPr b="1" lang="en" sz="1600">
                <a:solidFill>
                  <a:schemeClr val="dk1"/>
                </a:solidFill>
              </a:rPr>
              <a:t>mmon clustering algorithms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k-Means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Hierarchical clustering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DBSCAN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Gaussian Mixture Models (GMM)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1271" y="780721"/>
            <a:ext cx="4430074" cy="17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0451" y="2677199"/>
            <a:ext cx="3163223" cy="17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1"/>
          <p:cNvSpPr txBox="1"/>
          <p:nvPr/>
        </p:nvSpPr>
        <p:spPr>
          <a:xfrm>
            <a:off x="5055420" y="4386950"/>
            <a:ext cx="20514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GMM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Clustering  [contd…]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98225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🔁 Relationship between Density Estimation &amp; Clustering</a:t>
            </a:r>
            <a:endParaRPr b="1" sz="17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High-density regions often form </a:t>
            </a:r>
            <a:r>
              <a:rPr b="1" lang="en" sz="1300">
                <a:solidFill>
                  <a:schemeClr val="dk1"/>
                </a:solidFill>
              </a:rPr>
              <a:t>clusters</a:t>
            </a:r>
            <a:br>
              <a:rPr b="1" lang="en" sz="1300">
                <a:solidFill>
                  <a:schemeClr val="dk1"/>
                </a:solidFill>
              </a:rPr>
            </a:b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Many clustering methods (like GMM) are </a:t>
            </a:r>
            <a:r>
              <a:rPr b="1" lang="en" sz="1300">
                <a:solidFill>
                  <a:schemeClr val="dk1"/>
                </a:solidFill>
              </a:rPr>
              <a:t>based on density estimation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🧪 Quick comparison</a:t>
            </a:r>
            <a:endParaRPr b="1" sz="1300">
              <a:solidFill>
                <a:schemeClr val="dk1"/>
              </a:solidFill>
            </a:endParaRPr>
          </a:p>
        </p:txBody>
      </p:sp>
      <p:graphicFrame>
        <p:nvGraphicFramePr>
          <p:cNvPr id="178" name="Google Shape;178;p32"/>
          <p:cNvGraphicFramePr/>
          <p:nvPr/>
        </p:nvGraphicFramePr>
        <p:xfrm>
          <a:off x="724425" y="2628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{95A10B05-CD0B-4457-AA00-C8037DF8A59E}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Aspect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Density Estimation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Clustering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Probability density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Group labels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Labels needed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Focus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Distribution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Grouping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paradigms: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Supervised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Unsupervised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Reinforcement learning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>
                <a:solidFill>
                  <a:schemeClr val="dk1"/>
                </a:solidFill>
              </a:rPr>
              <a:t>Hybrid Models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 is a machine learning and pattern recognition approach where a model learns from labeled training data to make predictions on new, unseen data.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🤖 Common supervised learning algorithms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Linear &amp; Logistic Regression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k-Nearest Neighbors (k-NN)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Decision Trees &amp; Random Forests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Support Vector Machines (SVM)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Neural Networks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4075" y="2290220"/>
            <a:ext cx="4212500" cy="19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 is a machine learning and pattern recognition approach where a model learns without labeled output data and discovers hidden patterns or structure in the input data.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🤖 Common unsupervised learning algorithms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k-Means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Hierarchical clustering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DBSCAN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Gaussian Mixture Models (GMM)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Principal Component Analysis (PCA)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350" y="1920500"/>
            <a:ext cx="4716552" cy="256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 (RL) is a type of machine learning where an agent learns by interacting with an environment and improves its behavior through rewards and penalties.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🔄 Learning cycle</a:t>
            </a:r>
            <a:endParaRPr b="1" sz="1300">
              <a:solidFill>
                <a:schemeClr val="dk1"/>
              </a:solidFill>
            </a:endParaRPr>
          </a:p>
          <a:p>
            <a:pPr indent="-30543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8">
                <a:solidFill>
                  <a:schemeClr val="dk1"/>
                </a:solidFill>
              </a:rPr>
              <a:t>Agent observes the </a:t>
            </a:r>
            <a:r>
              <a:rPr b="1" lang="en" sz="1308">
                <a:solidFill>
                  <a:schemeClr val="dk1"/>
                </a:solidFill>
              </a:rPr>
              <a:t>state</a:t>
            </a:r>
            <a:br>
              <a:rPr b="1" lang="en" sz="1308">
                <a:solidFill>
                  <a:schemeClr val="dk1"/>
                </a:solidFill>
              </a:rPr>
            </a:br>
            <a:endParaRPr b="1" sz="1308">
              <a:solidFill>
                <a:schemeClr val="dk1"/>
              </a:solidFill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8">
                <a:solidFill>
                  <a:schemeClr val="dk1"/>
                </a:solidFill>
              </a:rPr>
              <a:t>Agent takes an </a:t>
            </a:r>
            <a:r>
              <a:rPr b="1" lang="en" sz="1308">
                <a:solidFill>
                  <a:schemeClr val="dk1"/>
                </a:solidFill>
              </a:rPr>
              <a:t>action</a:t>
            </a:r>
            <a:br>
              <a:rPr b="1" lang="en" sz="1308">
                <a:solidFill>
                  <a:schemeClr val="dk1"/>
                </a:solidFill>
              </a:rPr>
            </a:br>
            <a:endParaRPr b="1" sz="1308">
              <a:solidFill>
                <a:schemeClr val="dk1"/>
              </a:solidFill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8">
                <a:solidFill>
                  <a:schemeClr val="dk1"/>
                </a:solidFill>
              </a:rPr>
              <a:t>Environment gives a </a:t>
            </a:r>
            <a:r>
              <a:rPr b="1" lang="en" sz="1308">
                <a:solidFill>
                  <a:schemeClr val="dk1"/>
                </a:solidFill>
              </a:rPr>
              <a:t>reward</a:t>
            </a:r>
            <a:br>
              <a:rPr b="1" lang="en" sz="1308">
                <a:solidFill>
                  <a:schemeClr val="dk1"/>
                </a:solidFill>
              </a:rPr>
            </a:br>
            <a:endParaRPr b="1" sz="1308">
              <a:solidFill>
                <a:schemeClr val="dk1"/>
              </a:solidFill>
            </a:endParaRPr>
          </a:p>
          <a:p>
            <a:pPr indent="-30543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1308">
                <a:solidFill>
                  <a:schemeClr val="dk1"/>
                </a:solidFill>
              </a:rPr>
              <a:t>Agent updates its policy</a:t>
            </a:r>
            <a:endParaRPr sz="1308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6" title="aXFZUWpyN1Brc1BPbHQwS211WEhudkh6cXohMGFPMExPUTJNUTY4MDY1OTI1NFpSND8yOT85M1Y5MTA3MUxLQ3RDUkpDSjcwTE0wN293V0d6Rzc2cHhWTXJ6NlhzQVg0dUM0WGNNWDU,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4050" y="1789700"/>
            <a:ext cx="3146800" cy="314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               [contd…]</a:t>
            </a:r>
            <a:endParaRPr/>
          </a:p>
        </p:txBody>
      </p:sp>
      <p:sp>
        <p:nvSpPr>
          <p:cNvPr id="211" name="Google Shape;21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b="1" lang="en" sz="1503">
                <a:solidFill>
                  <a:schemeClr val="dk1"/>
                </a:solidFill>
              </a:rPr>
              <a:t>📊 Examples</a:t>
            </a:r>
            <a:endParaRPr b="1" sz="1503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Game playing (chess, Go, video games)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Robot navigation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Self-driving cars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Recommendation systems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Resource management</a:t>
            </a:r>
            <a:endParaRPr sz="13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18"/>
              <a:buNone/>
            </a:pPr>
            <a:r>
              <a:rPr b="1" lang="en" sz="1503">
                <a:solidFill>
                  <a:schemeClr val="dk1"/>
                </a:solidFill>
              </a:rPr>
              <a:t>🤖 Common reinforcement learning algorithms</a:t>
            </a:r>
            <a:endParaRPr b="1" sz="1503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Q-Learning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SARSA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Deep Q-Networks (DQN)</a:t>
            </a:r>
            <a:endParaRPr sz="1318">
              <a:solidFill>
                <a:schemeClr val="dk1"/>
              </a:solidFill>
            </a:endParaRPr>
          </a:p>
          <a:p>
            <a:pPr indent="-31226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●"/>
            </a:pPr>
            <a:r>
              <a:rPr lang="en" sz="1318">
                <a:solidFill>
                  <a:schemeClr val="dk1"/>
                </a:solidFill>
              </a:rPr>
              <a:t>Policy Gradient methods</a:t>
            </a:r>
            <a:endParaRPr sz="1965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🔁 Comparison with other learning types</a:t>
            </a:r>
            <a:endParaRPr/>
          </a:p>
        </p:txBody>
      </p:sp>
      <p:sp>
        <p:nvSpPr>
          <p:cNvPr id="217" name="Google Shape;21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Supervised</a:t>
            </a:r>
            <a:r>
              <a:rPr lang="en" sz="1500">
                <a:solidFill>
                  <a:schemeClr val="dk1"/>
                </a:solidFill>
              </a:rPr>
              <a:t> → learns from labeled data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Unsupervised</a:t>
            </a:r>
            <a:r>
              <a:rPr lang="en" sz="1500">
                <a:solidFill>
                  <a:schemeClr val="dk1"/>
                </a:solidFill>
              </a:rPr>
              <a:t> → finds structure in unlabeled data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Reinforcement</a:t>
            </a:r>
            <a:r>
              <a:rPr lang="en" sz="1500">
                <a:solidFill>
                  <a:schemeClr val="dk1"/>
                </a:solidFill>
              </a:rPr>
              <a:t> → learns from rewards and penalties</a:t>
            </a:r>
            <a:endParaRPr sz="190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/>
              <a:t>🔹 Automation</a:t>
            </a:r>
            <a:endParaRPr/>
          </a:p>
        </p:txBody>
      </p:sp>
      <p:sp>
        <p:nvSpPr>
          <p:cNvPr id="223" name="Google Shape;22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</a:rPr>
              <a:t>ML enables </a:t>
            </a:r>
            <a:r>
              <a:rPr b="1" lang="en" sz="1300">
                <a:solidFill>
                  <a:schemeClr val="dk1"/>
                </a:solidFill>
              </a:rPr>
              <a:t>automatic decision-making</a:t>
            </a:r>
            <a:r>
              <a:rPr lang="en" sz="1300">
                <a:solidFill>
                  <a:schemeClr val="dk1"/>
                </a:solidFill>
              </a:rPr>
              <a:t> without explicit rules.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Reduces human effort in repetitive tasks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Learns patterns instead of being hand-coded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Works in complex or changing environments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Examples: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Spam filtering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Face recognition</a:t>
            </a:r>
            <a:br>
              <a:rPr lang="en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Automatic grading systems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🔹Generalization</a:t>
            </a:r>
            <a:endParaRPr/>
          </a:p>
        </p:txBody>
      </p:sp>
      <p:sp>
        <p:nvSpPr>
          <p:cNvPr id="229" name="Google Shape;22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ML models can </a:t>
            </a:r>
            <a:r>
              <a:rPr b="1" lang="en" sz="1500">
                <a:solidFill>
                  <a:schemeClr val="dk1"/>
                </a:solidFill>
              </a:rPr>
              <a:t>perform well on unseen data</a:t>
            </a:r>
            <a:r>
              <a:rPr lang="en" sz="1500">
                <a:solidFill>
                  <a:schemeClr val="dk1"/>
                </a:solidFill>
              </a:rPr>
              <a:t>, not just the data they were trained 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Learns underlying patterns, not memorized examples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Makes predictions on new inputs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Essential for real-world use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🔹 Scalability</a:t>
            </a:r>
            <a:endParaRPr/>
          </a:p>
        </p:txBody>
      </p:sp>
      <p:sp>
        <p:nvSpPr>
          <p:cNvPr id="235" name="Google Shape;235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ML systems can handle </a:t>
            </a:r>
            <a:r>
              <a:rPr b="1" lang="en" sz="1100">
                <a:solidFill>
                  <a:schemeClr val="dk1"/>
                </a:solidFill>
              </a:rPr>
              <a:t>large volumes of data</a:t>
            </a:r>
            <a:r>
              <a:rPr lang="en" sz="1100">
                <a:solidFill>
                  <a:schemeClr val="dk1"/>
                </a:solidFill>
              </a:rPr>
              <a:t> and grow with increasing demand.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Works with millions or billions of samples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Performance improves with more data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be deployed across many users and systems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Examples: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Recommendation systems (Netflix, YouTube)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 engines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Large-scale fraud detection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