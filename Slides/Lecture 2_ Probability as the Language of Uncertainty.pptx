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7537BC-A471-4B96-9AB9-7D38D0ACBCCB}">
  <a:tblStyle styleId="{777537BC-A471-4B96-9AB9-7D38D0ACBCC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25ef5dd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25ef5dd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25ef5dd7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25ef5dd7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25ef5dd7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25ef5dd7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25ef5dd7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c25ef5dd7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25ef5dd7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25ef5dd7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25ef5dd7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25ef5dd7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25ef5dd7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25ef5dd7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25ef5dd7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25ef5dd7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25ef5dd7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25ef5dd7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25ef5dd77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25ef5dd77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25ef5dd77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c25ef5dd7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25ef5dd77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c25ef5dd77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25ef5dd77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c25ef5dd77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25ef5dd77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25ef5dd77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25ef5dd77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c25ef5dd77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25ef5dd77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c25ef5dd77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25ef5dd77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c25ef5dd77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25ef5dd77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c25ef5dd77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c25ef5dd77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c25ef5dd77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c25ef5dd77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c25ef5dd77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c25ef5dd77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c25ef5dd77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25ef5dd77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c25ef5dd77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Probability as the Language of Uncertainty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311700" y="4608700"/>
            <a:ext cx="82764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60">
                <a:solidFill>
                  <a:srgbClr val="595959"/>
                </a:solidFill>
              </a:rPr>
              <a:t>Brac University</a:t>
            </a:r>
            <a:endParaRPr sz="2960">
              <a:solidFill>
                <a:srgbClr val="595959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1274" y="4670711"/>
            <a:ext cx="297975" cy="28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probability is central to ML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Probability is central to Machine Learning (ML) because ML systems must reason under uncertainty and make decisions from incomplete, noisy data.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 title="91a5892bcda478077dfd157d7f4f7794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5925" y="2434150"/>
            <a:ext cx="1905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🔹 Handling Uncertainty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Real-world data is rarely perfect.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Measurements are noisy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Labels can be wrong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Future outcomes are uncertain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Probability</a:t>
            </a:r>
            <a:r>
              <a:rPr lang="en" sz="1200">
                <a:solidFill>
                  <a:schemeClr val="dk1"/>
                </a:solidFill>
              </a:rPr>
              <a:t> provides a mathematical way to: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Represent uncertainty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Quantify confidence in predictions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Example: Predicting whether an email is spam with </a:t>
            </a:r>
            <a:r>
              <a:rPr b="1" lang="en" sz="1200">
                <a:solidFill>
                  <a:schemeClr val="dk1"/>
                </a:solidFill>
              </a:rPr>
              <a:t>90% confidence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🔹 Learning from Data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ML is fundamentally about </a:t>
            </a:r>
            <a:r>
              <a:rPr b="1" lang="en" sz="1400">
                <a:solidFill>
                  <a:schemeClr val="dk1"/>
                </a:solidFill>
              </a:rPr>
              <a:t>inferring patterns from data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Probability models how likely data is given a model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Enables learning parameters from observations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👉 Example: Estimating class probabilities using Bayes’ theorem.</a:t>
            </a:r>
            <a:endParaRPr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🔹 Prediction &amp; Decision Making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ML models often output </a:t>
            </a:r>
            <a:r>
              <a:rPr b="1" lang="en" sz="1500">
                <a:solidFill>
                  <a:schemeClr val="dk1"/>
                </a:solidFill>
              </a:rPr>
              <a:t>probabilities</a:t>
            </a:r>
            <a:r>
              <a:rPr lang="en" sz="1500">
                <a:solidFill>
                  <a:schemeClr val="dk1"/>
                </a:solidFill>
              </a:rPr>
              <a:t>, not just decisions.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Allows risk-aware decisions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Supports threshold-based actions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👉 Example: Medical diagnosis with confidence levels.</a:t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🔹 Random Variable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 </a:t>
            </a:r>
            <a:r>
              <a:rPr b="1" lang="en" sz="1100">
                <a:solidFill>
                  <a:schemeClr val="dk1"/>
                </a:solidFill>
              </a:rPr>
              <a:t>random variable</a:t>
            </a:r>
            <a:r>
              <a:rPr lang="en" sz="1100">
                <a:solidFill>
                  <a:schemeClr val="dk1"/>
                </a:solidFill>
              </a:rPr>
              <a:t> is a variable whose value depends on the outcome of a </a:t>
            </a:r>
            <a:r>
              <a:rPr b="1" lang="en" sz="1100">
                <a:solidFill>
                  <a:schemeClr val="dk1"/>
                </a:solidFill>
              </a:rPr>
              <a:t>random process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📊 Examples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Tossing a coin →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Random variable X=1 if Heads, 0 if Tails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Rolling a die →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X∈{1,2,3,4,5,6}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House price →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X = price (varies randomly)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🔹 Generalization to Unseen Data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Probability helps models avoid overfitting.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Captures distributions, not exact samples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Supports regularization and uncertainty estimation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👉 Example: Predicting future data using learned distributions.</a:t>
            </a:r>
            <a:endParaRPr sz="2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🔹 Foundation of Many ML Methods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Many core ML algorithms are </a:t>
            </a:r>
            <a:r>
              <a:rPr b="1" lang="en" sz="1600">
                <a:solidFill>
                  <a:schemeClr val="dk1"/>
                </a:solidFill>
              </a:rPr>
              <a:t>probabilistic at heart</a:t>
            </a:r>
            <a:r>
              <a:rPr lang="en" sz="1600">
                <a:solidFill>
                  <a:schemeClr val="dk1"/>
                </a:solidFill>
              </a:rPr>
              <a:t>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Naive Bayes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Gaussian Mixture Models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Hidden Markov Models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Bayesian Neural Networks</a:t>
            </a:r>
            <a:endParaRPr sz="2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🧠 Types of random variables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Discrete random variable</a:t>
            </a:r>
            <a:br>
              <a:rPr b="1" lang="en" sz="1300">
                <a:solidFill>
                  <a:schemeClr val="dk1"/>
                </a:solidFill>
              </a:rPr>
            </a:b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Takes </a:t>
            </a:r>
            <a:r>
              <a:rPr b="1" lang="en" sz="1300">
                <a:solidFill>
                  <a:schemeClr val="dk1"/>
                </a:solidFill>
              </a:rPr>
              <a:t>countable values</a:t>
            </a:r>
            <a:br>
              <a:rPr b="1" lang="en" sz="1300">
                <a:solidFill>
                  <a:schemeClr val="dk1"/>
                </a:solidFill>
              </a:rPr>
            </a:b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Example: number of emails, class labels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Continuous random variable</a:t>
            </a:r>
            <a:br>
              <a:rPr b="1" lang="en" sz="1300">
                <a:solidFill>
                  <a:schemeClr val="dk1"/>
                </a:solidFill>
              </a:rPr>
            </a:b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Takes values from a </a:t>
            </a:r>
            <a:r>
              <a:rPr b="1" lang="en" sz="1300">
                <a:solidFill>
                  <a:schemeClr val="dk1"/>
                </a:solidFill>
              </a:rPr>
              <a:t>continuous range</a:t>
            </a:r>
            <a:br>
              <a:rPr b="1" lang="en" sz="1300">
                <a:solidFill>
                  <a:schemeClr val="dk1"/>
                </a:solidFill>
              </a:rPr>
            </a:b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Example: height, temperature, time</a:t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🔹 Probability Distribution</a:t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A </a:t>
            </a:r>
            <a:r>
              <a:rPr b="1" lang="en" sz="1400">
                <a:solidFill>
                  <a:schemeClr val="dk1"/>
                </a:solidFill>
              </a:rPr>
              <a:t>probability distribution</a:t>
            </a:r>
            <a:r>
              <a:rPr lang="en" sz="1400">
                <a:solidFill>
                  <a:schemeClr val="dk1"/>
                </a:solidFill>
              </a:rPr>
              <a:t> describes </a:t>
            </a:r>
            <a:r>
              <a:rPr b="1" lang="en" sz="1400">
                <a:solidFill>
                  <a:schemeClr val="dk1"/>
                </a:solidFill>
              </a:rPr>
              <a:t>how likely each value of a random variable is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55">
                <a:solidFill>
                  <a:schemeClr val="dk1"/>
                </a:solidFill>
              </a:rPr>
              <a:t>📈 Types of distributions</a:t>
            </a:r>
            <a:endParaRPr b="1" sz="1755">
              <a:solidFill>
                <a:schemeClr val="dk1"/>
              </a:solidFill>
            </a:endParaRPr>
          </a:p>
          <a:p>
            <a:pPr indent="-327329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55"/>
              <a:buChar char="●"/>
            </a:pPr>
            <a:r>
              <a:rPr b="1" lang="en" sz="1555">
                <a:solidFill>
                  <a:schemeClr val="dk1"/>
                </a:solidFill>
              </a:rPr>
              <a:t>Discrete distributions</a:t>
            </a:r>
            <a:endParaRPr b="1" sz="1555">
              <a:solidFill>
                <a:schemeClr val="dk1"/>
              </a:solidFill>
            </a:endParaRPr>
          </a:p>
          <a:p>
            <a:pPr indent="-327329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5"/>
              <a:buChar char="○"/>
            </a:pPr>
            <a:r>
              <a:rPr lang="en" sz="1555">
                <a:solidFill>
                  <a:schemeClr val="dk1"/>
                </a:solidFill>
              </a:rPr>
              <a:t>Bernoulli</a:t>
            </a:r>
            <a:endParaRPr sz="1555">
              <a:solidFill>
                <a:schemeClr val="dk1"/>
              </a:solidFill>
            </a:endParaRPr>
          </a:p>
          <a:p>
            <a:pPr indent="-327329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5"/>
              <a:buChar char="○"/>
            </a:pPr>
            <a:r>
              <a:rPr lang="en" sz="1555">
                <a:solidFill>
                  <a:schemeClr val="dk1"/>
                </a:solidFill>
              </a:rPr>
              <a:t>Binomial</a:t>
            </a:r>
            <a:endParaRPr sz="1555">
              <a:solidFill>
                <a:schemeClr val="dk1"/>
              </a:solidFill>
            </a:endParaRPr>
          </a:p>
          <a:p>
            <a:pPr indent="-327329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5"/>
              <a:buChar char="○"/>
            </a:pPr>
            <a:r>
              <a:rPr lang="en" sz="1555">
                <a:solidFill>
                  <a:schemeClr val="dk1"/>
                </a:solidFill>
              </a:rPr>
              <a:t>Poisson</a:t>
            </a:r>
            <a:endParaRPr sz="1555">
              <a:solidFill>
                <a:schemeClr val="dk1"/>
              </a:solidFill>
            </a:endParaRPr>
          </a:p>
          <a:p>
            <a:pPr indent="-32732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5"/>
              <a:buChar char="●"/>
            </a:pPr>
            <a:r>
              <a:rPr b="1" lang="en" sz="1555">
                <a:solidFill>
                  <a:schemeClr val="dk1"/>
                </a:solidFill>
              </a:rPr>
              <a:t>Continuous distributions</a:t>
            </a:r>
            <a:endParaRPr b="1" sz="1555">
              <a:solidFill>
                <a:schemeClr val="dk1"/>
              </a:solidFill>
            </a:endParaRPr>
          </a:p>
          <a:p>
            <a:pPr indent="-327329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5"/>
              <a:buChar char="○"/>
            </a:pPr>
            <a:r>
              <a:rPr lang="en" sz="1555">
                <a:solidFill>
                  <a:schemeClr val="dk1"/>
                </a:solidFill>
              </a:rPr>
              <a:t>Uniform</a:t>
            </a:r>
            <a:endParaRPr sz="1555">
              <a:solidFill>
                <a:schemeClr val="dk1"/>
              </a:solidFill>
            </a:endParaRPr>
          </a:p>
          <a:p>
            <a:pPr indent="-327329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5"/>
              <a:buChar char="○"/>
            </a:pPr>
            <a:r>
              <a:rPr lang="en" sz="1555">
                <a:solidFill>
                  <a:schemeClr val="dk1"/>
                </a:solidFill>
              </a:rPr>
              <a:t>Gaussian (Normal)</a:t>
            </a:r>
            <a:endParaRPr sz="1555">
              <a:solidFill>
                <a:schemeClr val="dk1"/>
              </a:solidFill>
            </a:endParaRPr>
          </a:p>
          <a:p>
            <a:pPr indent="-327329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5"/>
              <a:buChar char="○"/>
            </a:pPr>
            <a:r>
              <a:rPr lang="en" sz="1555">
                <a:solidFill>
                  <a:schemeClr val="dk1"/>
                </a:solidFill>
              </a:rPr>
              <a:t>Exponential</a:t>
            </a:r>
            <a:endParaRPr sz="1755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🔹 Uncertainty ≠ Noise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404275" y="4254200"/>
            <a:ext cx="847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Noise is about data quality; uncertainty is about knowledge and predictability.</a:t>
            </a:r>
            <a:endParaRPr sz="2100"/>
          </a:p>
        </p:txBody>
      </p:sp>
      <p:graphicFrame>
        <p:nvGraphicFramePr>
          <p:cNvPr id="118" name="Google Shape;118;p23"/>
          <p:cNvGraphicFramePr/>
          <p:nvPr/>
        </p:nvGraphicFramePr>
        <p:xfrm>
          <a:off x="823475" y="106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{777537BC-A471-4B96-9AB9-7D38D0ACBCCB}</a:tableStyleId>
              </a:tblPr>
              <a:tblGrid>
                <a:gridCol w="3615200"/>
                <a:gridCol w="3615200"/>
              </a:tblGrid>
              <a:tr h="2682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🔸 Noise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Noise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is unwanted random disturbance in data</a:t>
                      </a:r>
                      <a:br>
                        <a:rPr lang="en" sz="1100">
                          <a:solidFill>
                            <a:schemeClr val="dk1"/>
                          </a:solidFill>
                        </a:rPr>
                      </a:b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Comes from measurement errors, sensor faults, or data corruption</a:t>
                      </a:r>
                      <a:br>
                        <a:rPr lang="en" sz="1100">
                          <a:solidFill>
                            <a:schemeClr val="dk1"/>
                          </a:solidFill>
                        </a:rPr>
                      </a:b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Often something we try to 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reduce or filter out</a:t>
                      </a:r>
                      <a:br>
                        <a:rPr b="1" lang="en" sz="1100">
                          <a:solidFill>
                            <a:schemeClr val="dk1"/>
                          </a:solidFill>
                        </a:rPr>
                      </a:br>
                      <a:endParaRPr b="1"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Example:</a:t>
                      </a:r>
                      <a:br>
                        <a:rPr b="1" lang="en" sz="1100">
                          <a:solidFill>
                            <a:schemeClr val="dk1"/>
                          </a:solidFill>
                        </a:rPr>
                      </a:b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A thermometer gives slightly different readings each time due to sensor error.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🔸 Uncertainty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Uncertainty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reflects our 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lack of complete knowledge</a:t>
                      </a:r>
                      <a:br>
                        <a:rPr b="1" lang="en" sz="1100">
                          <a:solidFill>
                            <a:schemeClr val="dk1"/>
                          </a:solidFill>
                        </a:rPr>
                      </a:br>
                      <a:endParaRPr b="1"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Exists even when data is clean</a:t>
                      </a:r>
                      <a:br>
                        <a:rPr lang="en" sz="1100">
                          <a:solidFill>
                            <a:schemeClr val="dk1"/>
                          </a:solidFill>
                        </a:rPr>
                      </a:b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Comes from limited data, ambiguity, or inherently random processes</a:t>
                      </a:r>
                      <a:br>
                        <a:rPr lang="en" sz="1100">
                          <a:solidFill>
                            <a:schemeClr val="dk1"/>
                          </a:solidFill>
                        </a:rPr>
                      </a:b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Example:</a:t>
                      </a:r>
                      <a:br>
                        <a:rPr b="1" lang="en" sz="1100">
                          <a:solidFill>
                            <a:schemeClr val="dk1"/>
                          </a:solidFill>
                        </a:rPr>
                      </a:b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Predicting tomorrow’s weather—even with perfect instruments.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🔹 Probabilistic Predictions Instead of Single Answers</a:t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52475"/>
            <a:ext cx="3988800" cy="16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🔸 Single (deterministic) prediction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Output: </a:t>
            </a:r>
            <a:r>
              <a:rPr i="1" lang="en" sz="1100">
                <a:solidFill>
                  <a:schemeClr val="dk1"/>
                </a:solidFill>
              </a:rPr>
              <a:t>“This email is spam.”</a:t>
            </a:r>
            <a:br>
              <a:rPr i="1" lang="en" sz="1100">
                <a:solidFill>
                  <a:schemeClr val="dk1"/>
                </a:solidFill>
              </a:rPr>
            </a:br>
            <a:endParaRPr i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No confidence information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Risky in high-stakes decisions</a:t>
            </a:r>
            <a:endParaRPr/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311700" y="2973500"/>
            <a:ext cx="3810600" cy="14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🔸 Probabilistic prediction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Output: </a:t>
            </a:r>
            <a:r>
              <a:rPr i="1" lang="en" sz="1100">
                <a:solidFill>
                  <a:schemeClr val="dk1"/>
                </a:solidFill>
              </a:rPr>
              <a:t>“This email is spam with 92% probability.”</a:t>
            </a:r>
            <a:br>
              <a:rPr i="1" lang="en" sz="1100">
                <a:solidFill>
                  <a:schemeClr val="dk1"/>
                </a:solidFill>
              </a:rPr>
            </a:br>
            <a:endParaRPr i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Expresses uncertainty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Allows better decision-making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126" name="Google Shape;126;p24"/>
          <p:cNvSpPr txBox="1"/>
          <p:nvPr/>
        </p:nvSpPr>
        <p:spPr>
          <a:xfrm>
            <a:off x="5023075" y="1186950"/>
            <a:ext cx="3698400" cy="3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🧠 Why probabilistic predictions matter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Help handle uncertain or ambiguous inputs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Enable </a:t>
            </a:r>
            <a:r>
              <a:rPr b="1" lang="en" sz="1100">
                <a:solidFill>
                  <a:schemeClr val="dk1"/>
                </a:solidFill>
              </a:rPr>
              <a:t>threshold-based decisions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Allow systems to </a:t>
            </a:r>
            <a:r>
              <a:rPr b="1" lang="en" sz="1100">
                <a:solidFill>
                  <a:schemeClr val="dk1"/>
                </a:solidFill>
              </a:rPr>
              <a:t>defer decisions</a:t>
            </a:r>
            <a:r>
              <a:rPr lang="en" sz="1100">
                <a:solidFill>
                  <a:schemeClr val="dk1"/>
                </a:solidFill>
              </a:rPr>
              <a:t> when confidence is low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Examples: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Medical diagnosis with confidence levels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Autonomous driving risk assessment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Fraud detection alerts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🔹 Frequentist Perspective</a:t>
            </a:r>
            <a:endParaRPr/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🔸 Core idea : </a:t>
            </a:r>
            <a:r>
              <a:rPr lang="en" sz="1100">
                <a:solidFill>
                  <a:schemeClr val="dk1"/>
                </a:solidFill>
              </a:rPr>
              <a:t>Probability is defined as the </a:t>
            </a:r>
            <a:r>
              <a:rPr b="1" lang="en" sz="1100">
                <a:solidFill>
                  <a:schemeClr val="dk1"/>
                </a:solidFill>
              </a:rPr>
              <a:t>long-run frequency</a:t>
            </a:r>
            <a:r>
              <a:rPr lang="en" sz="1100">
                <a:solidFill>
                  <a:schemeClr val="dk1"/>
                </a:solidFill>
              </a:rPr>
              <a:t> of an event.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Probability </a:t>
            </a:r>
            <a:r>
              <a:rPr lang="en" sz="1600">
                <a:solidFill>
                  <a:schemeClr val="dk1"/>
                </a:solidFill>
              </a:rPr>
              <a:t>means</a:t>
            </a:r>
            <a:r>
              <a:rPr lang="en" sz="1600">
                <a:solidFill>
                  <a:schemeClr val="dk1"/>
                </a:solidFill>
              </a:rPr>
              <a:t> how often something happens if we repeat the experiment infinitely many times.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🔸 Key characteristics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Parameters are </a:t>
            </a:r>
            <a:r>
              <a:rPr b="1" lang="en" sz="1100">
                <a:solidFill>
                  <a:schemeClr val="dk1"/>
                </a:solidFill>
              </a:rPr>
              <a:t>fixed but unknown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Data is </a:t>
            </a:r>
            <a:r>
              <a:rPr b="1" lang="en" sz="1100">
                <a:solidFill>
                  <a:schemeClr val="dk1"/>
                </a:solidFill>
              </a:rPr>
              <a:t>random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No prior beliefs allowed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Inference relies only on observed data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3" name="Google Shape;133;p25"/>
          <p:cNvSpPr txBox="1"/>
          <p:nvPr/>
        </p:nvSpPr>
        <p:spPr>
          <a:xfrm>
            <a:off x="3818925" y="1986875"/>
            <a:ext cx="4687500" cy="25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🔸 Example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A coin has an unknown bias </a:t>
            </a:r>
            <a:r>
              <a:rPr i="1" lang="en" sz="1100">
                <a:solidFill>
                  <a:schemeClr val="dk1"/>
                </a:solidFill>
              </a:rPr>
              <a:t>p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Frequentist view: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" sz="1100">
                <a:solidFill>
                  <a:schemeClr val="dk1"/>
                </a:solidFill>
              </a:rPr>
              <a:t>p</a:t>
            </a:r>
            <a:r>
              <a:rPr lang="en" sz="1100">
                <a:solidFill>
                  <a:schemeClr val="dk1"/>
                </a:solidFill>
              </a:rPr>
              <a:t> is a </a:t>
            </a:r>
            <a:r>
              <a:rPr b="1" lang="en" sz="1100">
                <a:solidFill>
                  <a:schemeClr val="dk1"/>
                </a:solidFill>
              </a:rPr>
              <a:t>fixed constant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Estimate </a:t>
            </a:r>
            <a:r>
              <a:rPr i="1" lang="en" sz="1100">
                <a:solidFill>
                  <a:schemeClr val="dk1"/>
                </a:solidFill>
              </a:rPr>
              <a:t>p</a:t>
            </a:r>
            <a:r>
              <a:rPr lang="en" sz="1100">
                <a:solidFill>
                  <a:schemeClr val="dk1"/>
                </a:solidFill>
              </a:rPr>
              <a:t> using many coin flips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Confidence intervals describe procedure reliability, not belief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🔹 Bayesian Perspective</a:t>
            </a:r>
            <a:endParaRPr/>
          </a:p>
        </p:txBody>
      </p:sp>
      <p:sp>
        <p:nvSpPr>
          <p:cNvPr id="139" name="Google Shape;13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🔸 Core idea: </a:t>
            </a:r>
            <a:r>
              <a:rPr lang="en" sz="1100">
                <a:solidFill>
                  <a:schemeClr val="dk1"/>
                </a:solidFill>
              </a:rPr>
              <a:t>Probability represents </a:t>
            </a:r>
            <a:r>
              <a:rPr b="1" lang="en" sz="1100">
                <a:solidFill>
                  <a:schemeClr val="dk1"/>
                </a:solidFill>
              </a:rPr>
              <a:t>degree of belief</a:t>
            </a:r>
            <a:r>
              <a:rPr lang="en" sz="1100">
                <a:solidFill>
                  <a:schemeClr val="dk1"/>
                </a:solidFill>
              </a:rPr>
              <a:t> or </a:t>
            </a:r>
            <a:r>
              <a:rPr b="1" lang="en" sz="1100">
                <a:solidFill>
                  <a:schemeClr val="dk1"/>
                </a:solidFill>
              </a:rPr>
              <a:t>uncertainty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Probability </a:t>
            </a:r>
            <a:r>
              <a:rPr b="1" lang="en" sz="1100">
                <a:solidFill>
                  <a:schemeClr val="dk1"/>
                </a:solidFill>
              </a:rPr>
              <a:t>means</a:t>
            </a:r>
            <a:r>
              <a:rPr b="1" lang="en" sz="1100">
                <a:solidFill>
                  <a:schemeClr val="dk1"/>
                </a:solidFill>
              </a:rPr>
              <a:t> how confident we are about something.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🔸 Key characteristics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Parameters are </a:t>
            </a:r>
            <a:r>
              <a:rPr b="1" lang="en" sz="1100">
                <a:solidFill>
                  <a:schemeClr val="dk1"/>
                </a:solidFill>
              </a:rPr>
              <a:t>random variables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Data is observed and fixed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Prior knowledge is </a:t>
            </a:r>
            <a:r>
              <a:rPr b="1" lang="en" sz="1100">
                <a:solidFill>
                  <a:schemeClr val="dk1"/>
                </a:solidFill>
              </a:rPr>
              <a:t>explicitly included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Beliefs are updated using </a:t>
            </a:r>
            <a:r>
              <a:rPr b="1" lang="en" sz="1100">
                <a:solidFill>
                  <a:schemeClr val="dk1"/>
                </a:solidFill>
              </a:rPr>
              <a:t>Bayes’ theorem</a:t>
            </a:r>
            <a:endParaRPr b="1" sz="1100">
              <a:solidFill>
                <a:schemeClr val="dk1"/>
              </a:solidFill>
            </a:endParaRPr>
          </a:p>
          <a:p>
            <a:pPr indent="0" lvl="0" marL="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6"/>
          <p:cNvSpPr txBox="1"/>
          <p:nvPr/>
        </p:nvSpPr>
        <p:spPr>
          <a:xfrm>
            <a:off x="4704850" y="1728850"/>
            <a:ext cx="3827400" cy="25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🔸 Example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Same coin with bias </a:t>
            </a:r>
            <a:r>
              <a:rPr i="1" lang="en" sz="1100">
                <a:solidFill>
                  <a:schemeClr val="dk1"/>
                </a:solidFill>
              </a:rPr>
              <a:t>p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Bayesian view: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5143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" sz="1100">
                <a:solidFill>
                  <a:schemeClr val="dk1"/>
                </a:solidFill>
              </a:rPr>
              <a:t>p</a:t>
            </a:r>
            <a:r>
              <a:rPr lang="en" sz="1100">
                <a:solidFill>
                  <a:schemeClr val="dk1"/>
                </a:solidFill>
              </a:rPr>
              <a:t> has a </a:t>
            </a:r>
            <a:r>
              <a:rPr b="1" lang="en" sz="1100">
                <a:solidFill>
                  <a:schemeClr val="dk1"/>
                </a:solidFill>
              </a:rPr>
              <a:t>probability distribution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1" marL="5143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Start with a </a:t>
            </a:r>
            <a:r>
              <a:rPr b="1" lang="en" sz="1100">
                <a:solidFill>
                  <a:schemeClr val="dk1"/>
                </a:solidFill>
              </a:rPr>
              <a:t>prior</a:t>
            </a:r>
            <a:r>
              <a:rPr lang="en" sz="1100">
                <a:solidFill>
                  <a:schemeClr val="dk1"/>
                </a:solidFill>
              </a:rPr>
              <a:t> belief about </a:t>
            </a:r>
            <a:r>
              <a:rPr i="1" lang="en" sz="1100">
                <a:solidFill>
                  <a:schemeClr val="dk1"/>
                </a:solidFill>
              </a:rPr>
              <a:t>p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5143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Update belief after observing flips → </a:t>
            </a:r>
            <a:r>
              <a:rPr b="1" lang="en" sz="1100">
                <a:solidFill>
                  <a:schemeClr val="dk1"/>
                </a:solidFill>
              </a:rPr>
              <a:t>posterior distribution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</a:t>
            </a:r>
            <a:r>
              <a:rPr lang="en"/>
              <a:t>used:</a:t>
            </a:r>
            <a:endParaRPr/>
          </a:p>
        </p:txBody>
      </p:sp>
      <p:sp>
        <p:nvSpPr>
          <p:cNvPr id="146" name="Google Shape;146;p27"/>
          <p:cNvSpPr txBox="1"/>
          <p:nvPr>
            <p:ph idx="1" type="body"/>
          </p:nvPr>
        </p:nvSpPr>
        <p:spPr>
          <a:xfrm>
            <a:off x="311700" y="1152475"/>
            <a:ext cx="3447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🔸 Common frequentist tools</a:t>
            </a:r>
            <a:endParaRPr b="1" sz="15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Maximum Likelihood Estimation (MLE)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Hypothesis testing (p-values)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Confidence intervals</a:t>
            </a:r>
            <a:endParaRPr sz="2000"/>
          </a:p>
        </p:txBody>
      </p:sp>
      <p:sp>
        <p:nvSpPr>
          <p:cNvPr id="147" name="Google Shape;147;p27"/>
          <p:cNvSpPr txBox="1"/>
          <p:nvPr/>
        </p:nvSpPr>
        <p:spPr>
          <a:xfrm>
            <a:off x="5100500" y="1247175"/>
            <a:ext cx="3500700" cy="3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🔸 Common Bayesian tools</a:t>
            </a:r>
            <a:endParaRPr b="1" sz="15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Bayes’ theorem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Maximum A Posteriori (MAP) estimation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Bayesian networks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Gaussian processes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🔁 Side-by-side comparison</a:t>
            </a:r>
            <a:endParaRPr/>
          </a:p>
        </p:txBody>
      </p:sp>
      <p:graphicFrame>
        <p:nvGraphicFramePr>
          <p:cNvPr id="153" name="Google Shape;153;p28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{777537BC-A471-4B96-9AB9-7D38D0ACBCCB}</a:tableStyleId>
              </a:tblPr>
              <a:tblGrid>
                <a:gridCol w="1810925"/>
                <a:gridCol w="3015075"/>
                <a:gridCol w="2413000"/>
              </a:tblGrid>
              <a:tr h="16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Aspect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Frequentist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Bayesian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41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Meaning of probability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Long-run frequency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Degree of belief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Parameters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Fixed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Random variables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Prior knowledge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Not used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Explicitly used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Output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Point estimate / CI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Full distribution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Interpretation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Objective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Subjective (but principled)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🔹Gaussian distribution as a workhorse model</a:t>
            </a:r>
            <a:endParaRPr/>
          </a:p>
        </p:txBody>
      </p:sp>
      <p:sp>
        <p:nvSpPr>
          <p:cNvPr id="159" name="Google Shape;15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Gaussian (Normal) distribution is called a workhorse in ML and statistics because it’s simple, flexible, mathematically convenient, and surprisingly accurate for many real-world phenomena.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🔹 What it is (quick recap)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A Gaussian distribution is a continuous probability distribution defined by just </a:t>
            </a:r>
            <a:r>
              <a:rPr b="1" lang="en" sz="1100">
                <a:solidFill>
                  <a:schemeClr val="dk1"/>
                </a:solidFill>
              </a:rPr>
              <a:t>two parameters</a:t>
            </a:r>
            <a:r>
              <a:rPr lang="en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Mean (μ)</a:t>
            </a:r>
            <a:r>
              <a:rPr lang="en" sz="1100">
                <a:solidFill>
                  <a:schemeClr val="dk1"/>
                </a:solidFill>
              </a:rPr>
              <a:t> → center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Variance (σ²)</a:t>
            </a:r>
            <a:r>
              <a:rPr lang="en" sz="1100">
                <a:solidFill>
                  <a:schemeClr val="dk1"/>
                </a:solidFill>
              </a:rPr>
              <a:t> → spread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It produces the familiar </a:t>
            </a:r>
            <a:r>
              <a:rPr b="1" lang="en" sz="1100">
                <a:solidFill>
                  <a:schemeClr val="dk1"/>
                </a:solidFill>
              </a:rPr>
              <a:t>bell-shaped curve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🔹 Why it’s a workhorse</a:t>
            </a:r>
            <a:endParaRPr/>
          </a:p>
        </p:txBody>
      </p:sp>
      <p:sp>
        <p:nvSpPr>
          <p:cNvPr id="165" name="Google Shape;165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1️⃣ Models natural variability really well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Many real-world measurements cluster around an average with symmetric spread.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Examples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Measurement noise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Heights, weights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Sensor errors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Pixel intensity noise in images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👉 When you don’t know the true distribution, </a:t>
            </a:r>
            <a:r>
              <a:rPr b="1" lang="en" sz="1200">
                <a:solidFill>
                  <a:schemeClr val="dk1"/>
                </a:solidFill>
              </a:rPr>
              <a:t>Gaussian is often a good first guess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🔹 Why it’s a workhorse</a:t>
            </a:r>
            <a:endParaRPr/>
          </a:p>
        </p:txBody>
      </p:sp>
      <p:sp>
        <p:nvSpPr>
          <p:cNvPr id="171" name="Google Shape;17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2️⃣ Central Limit Theorem (the big reason)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The </a:t>
            </a:r>
            <a:r>
              <a:rPr b="1" lang="en" sz="1200">
                <a:solidFill>
                  <a:schemeClr val="dk1"/>
                </a:solidFill>
              </a:rPr>
              <a:t>Central Limit Theorem</a:t>
            </a:r>
            <a:r>
              <a:rPr lang="en" sz="1200">
                <a:solidFill>
                  <a:schemeClr val="dk1"/>
                </a:solidFill>
              </a:rPr>
              <a:t> says:</a:t>
            </a:r>
            <a:endParaRPr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The sum (or average) of many independent random effects tends toward a Gaussian distribution.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Why this matters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Noise often comes from many small sources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Even if each source isn’t Gaussian, their combination usually is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👉 This makes Gaussian noise a </a:t>
            </a:r>
            <a:r>
              <a:rPr b="1" lang="en" sz="1200">
                <a:solidFill>
                  <a:schemeClr val="dk1"/>
                </a:solidFill>
              </a:rPr>
              <a:t>default assumption</a:t>
            </a:r>
            <a:r>
              <a:rPr lang="en" sz="1200">
                <a:solidFill>
                  <a:schemeClr val="dk1"/>
                </a:solidFill>
              </a:rPr>
              <a:t> in ML.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🔹 Why it’s a workhorse</a:t>
            </a:r>
            <a:endParaRPr/>
          </a:p>
        </p:txBody>
      </p:sp>
      <p:sp>
        <p:nvSpPr>
          <p:cNvPr id="177" name="Google Shape;17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3️⃣ Mathematical convenience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Gaussian distributions are </a:t>
            </a:r>
            <a:r>
              <a:rPr b="1" lang="en" sz="1200">
                <a:solidFill>
                  <a:schemeClr val="dk1"/>
                </a:solidFill>
              </a:rPr>
              <a:t>easy to work with</a:t>
            </a:r>
            <a:r>
              <a:rPr lang="en" sz="1200">
                <a:solidFill>
                  <a:schemeClr val="dk1"/>
                </a:solidFill>
              </a:rPr>
              <a:t>: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Fully described by mean &amp; variance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Closed-form solutions exist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Differentiable and smooth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Nice behavior under sums, products, and conditioning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This leads to: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Fast learning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Stable optimization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Clean theoretical results</a:t>
            </a:r>
            <a:endParaRPr sz="1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🔹 Why it’s a workhorse</a:t>
            </a:r>
            <a:endParaRPr/>
          </a:p>
        </p:txBody>
      </p:sp>
      <p:sp>
        <p:nvSpPr>
          <p:cNvPr id="183" name="Google Shape;183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4️⃣ Foundation of many ML models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Many core ML methods </a:t>
            </a:r>
            <a:r>
              <a:rPr b="1" lang="en" sz="1200">
                <a:solidFill>
                  <a:schemeClr val="dk1"/>
                </a:solidFill>
              </a:rPr>
              <a:t>assume or rely on Gaussian distributions</a:t>
            </a:r>
            <a:r>
              <a:rPr lang="en" sz="1200">
                <a:solidFill>
                  <a:schemeClr val="dk1"/>
                </a:solidFill>
              </a:rPr>
              <a:t>: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Linear Regression (Gaussian noise assumption)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Naive Bayes (Gaussian version)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Gaussian Mixture Models (GMMs)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Kalman Filters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Gaussian Processes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PCA (assumes Gaussian structure)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👉 Remove the Gaussian, and many models become much harder.</a:t>
            </a:r>
            <a:endParaRPr sz="1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🔹 Why it’s a workhorse</a:t>
            </a:r>
            <a:endParaRPr/>
          </a:p>
        </p:txBody>
      </p:sp>
      <p:sp>
        <p:nvSpPr>
          <p:cNvPr id="189" name="Google Shape;189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5️⃣ Extends naturally to high dimensions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The </a:t>
            </a:r>
            <a:r>
              <a:rPr b="1" lang="en" sz="1400">
                <a:solidFill>
                  <a:schemeClr val="dk1"/>
                </a:solidFill>
              </a:rPr>
              <a:t>multivariate Gaussian</a:t>
            </a:r>
            <a:r>
              <a:rPr lang="en" sz="1400">
                <a:solidFill>
                  <a:schemeClr val="dk1"/>
                </a:solidFill>
              </a:rPr>
              <a:t> models correlations between features using a </a:t>
            </a:r>
            <a:r>
              <a:rPr b="1" lang="en" sz="1400">
                <a:solidFill>
                  <a:schemeClr val="dk1"/>
                </a:solidFill>
              </a:rPr>
              <a:t>covariance matrix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This allows: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Modeling feature dependencies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Density estimation in high-dimensional spaces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Clustering via GMMs</a:t>
            </a:r>
            <a:endParaRPr sz="2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🔹 Summary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Think of the Gaussian as: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The </a:t>
            </a:r>
            <a:r>
              <a:rPr b="1" lang="en" sz="1400">
                <a:solidFill>
                  <a:schemeClr val="dk1"/>
                </a:solidFill>
              </a:rPr>
              <a:t>default noise model</a:t>
            </a:r>
            <a:br>
              <a:rPr b="1" lang="en" sz="1400">
                <a:solidFill>
                  <a:schemeClr val="dk1"/>
                </a:solidFill>
              </a:rPr>
            </a:b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The </a:t>
            </a:r>
            <a:r>
              <a:rPr b="1" lang="en" sz="1400">
                <a:solidFill>
                  <a:schemeClr val="dk1"/>
                </a:solidFill>
              </a:rPr>
              <a:t>simplest reasonable distribution</a:t>
            </a:r>
            <a:br>
              <a:rPr b="1" lang="en" sz="1400">
                <a:solidFill>
                  <a:schemeClr val="dk1"/>
                </a:solidFill>
              </a:rPr>
            </a:b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The </a:t>
            </a:r>
            <a:r>
              <a:rPr b="1" lang="en" sz="1400">
                <a:solidFill>
                  <a:schemeClr val="dk1"/>
                </a:solidFill>
              </a:rPr>
              <a:t>first model you try</a:t>
            </a:r>
            <a:r>
              <a:rPr lang="en" sz="1400">
                <a:solidFill>
                  <a:schemeClr val="dk1"/>
                </a:solidFill>
              </a:rPr>
              <a:t> when you don’t know better</a:t>
            </a:r>
            <a:endParaRPr sz="2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